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81"/>
    <p:restoredTop sz="94610"/>
  </p:normalViewPr>
  <p:slideViewPr>
    <p:cSldViewPr snapToGrid="0" snapToObjects="1">
      <p:cViewPr varScale="1">
        <p:scale>
          <a:sx n="172" d="100"/>
          <a:sy n="172" d="100"/>
        </p:scale>
        <p:origin x="21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F1 Scores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0.21</c:v>
                </c:pt>
                <c:pt idx="2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7F-6241-9D35-7C5DB2B3C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Model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F1 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97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hyperlink" Target="https://inseaddataanalytics.github.io/INSEADAnalytics/groupprojects/January2018FBL/IBM_Attrition_VSS.html#:~:text=Attrition%20is%20a%20problem%20that,of%2C%20and%20minimizing%20staff%20attrition" TargetMode="Externa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hyperlink" Target="https://inseaddataanalytics.github.io/INSEADAnalytics/groupprojects/January2018FBL/IBM_Attrition_VSS.html#:~:text=Attrition%20is%20a%20problem%20that,of%2C%20and%20minimizing%20staff%20attrition" TargetMode="Externa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hyperlink" Target="https://www.geeksforgeeks.org/machine-learning/random-forest-algorithm-in-machine-learning/#:~:text=Random%20Forest%20is%20a%20machine,improving%20accuracy%20and%20reducing%20errors" TargetMode="External"/><Relationship Id="rId5" Type="http://schemas.openxmlformats.org/officeDocument/2006/relationships/hyperlink" Target="https://www.geeksforgeeks.org/machine-learning/understanding-logistic-regression/#:~:text=Logistic%20Regression%20is%20a%20supervised,regression%20and%20its%20core%20concepts" TargetMode="Externa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7" Type="http://schemas.openxmlformats.org/officeDocument/2006/relationships/hyperlink" Target="https://www.geeksforgeeks.org/machine-learning/random-forest-algorithm-in-machine-learning/#:~:text=Random%20Forest%20is%20a%20machine,improving%20accuracy%20and%20reducing%20errors" TargetMode="Externa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hyperlink" Target="https://www.geeksforgeeks.org/machine-learning/understanding-logistic-regression/#:~:text=Logistic%20Regression%20is%20a%20supervised,regression%20and%20its%20core%20concepts" TargetMode="External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hyperlink" Target="https://www.geeksforgeeks.org/machine-learning/random-forest-algorithm-in-machine-learning/#:~:text=Random%20Forest%20is%20a%20machine,improving%20accuracy%20and%20reducing%20errors" TargetMode="Externa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hyperlink" Target="https://www.hrcloud.com/blog/predictive-analytics-in-hr-forecasting-workforce-needs#:~:text=Ethical%20Considerations%20in%20Predictive%20Analytics" TargetMode="Externa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hyperlink" Target="https://www.hrcloud.com/blog/predictive-analytics-in-hr-forecasting-workforce-needs#:~:text=Ethical%20Considerations%20in%20Predictive%20Analytics" TargetMode="External"/><Relationship Id="rId5" Type="http://schemas.openxmlformats.org/officeDocument/2006/relationships/hyperlink" Target="https://pmc.ncbi.nlm.nih.gov/articles/PMC3648438/#:~:text=The%20Synthetic%20Minority%20Over,36" TargetMode="Externa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nseaddataanalytics.github.io/INSEADAnalytics/groupprojects/January2018FBL/IBM_Attrition_VSS.html#:~:text=Attrition%20is%20a%20problem%20that,of%2C%20and%20minimizing%20staff%20attrition" TargetMode="External"/><Relationship Id="rId7" Type="http://schemas.openxmlformats.org/officeDocument/2006/relationships/hyperlink" Target="https://www.hrcloud.com/blog/predictive-analytics-in-hr-forecasting-workforce-needs#:~:text=Ethical%20Considerations%20in%20Predictive%20Analytic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mc.ncbi.nlm.nih.gov/articles/PMC3648438/#:~:text=The%20Synthetic%20Minority%20Over,36" TargetMode="External"/><Relationship Id="rId5" Type="http://schemas.openxmlformats.org/officeDocument/2006/relationships/hyperlink" Target="https://www.geeksforgeeks.org/machine-learning/random-forest-algorithm-in-machine-learning/#:~:text=Random%20Forest%20is%20a%20machine,improving%20accuracy%20and%20reducing%20errors" TargetMode="External"/><Relationship Id="rId4" Type="http://schemas.openxmlformats.org/officeDocument/2006/relationships/hyperlink" Target="https://www.geeksforgeeks.org/machine-learning/understanding-logistic-regression/#:~:text=Logistic%20Regression%20is%20a%20supervised,regression%20and%20its%20core%20concep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29200" y="51435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Employee Attrition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B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HR Analytics Employee Attrition &amp; Performance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4B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7, 2025</a:t>
            </a:r>
            <a:endParaRPr lang="en-US" sz="1000" dirty="0"/>
          </a:p>
        </p:txBody>
      </p:sp>
      <p:pic>
        <p:nvPicPr>
          <p:cNvPr id="25" name="Audio 24">
            <a:extLst>
              <a:ext uri="{FF2B5EF4-FFF2-40B4-BE49-F238E27FC236}">
                <a16:creationId xmlns:a16="http://schemas.microsoft.com/office/drawing/2014/main" id="{B25B8A0F-0E67-2381-F12A-8323DD0970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26"/>
    </mc:Choice>
    <mc:Fallback xmlns="">
      <p:transition spd="slow" advTm="217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Considerations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</p:txBody>
      </p:sp>
      <p:pic>
        <p:nvPicPr>
          <p:cNvPr id="31" name="Audio 30">
            <a:extLst>
              <a:ext uri="{FF2B5EF4-FFF2-40B4-BE49-F238E27FC236}">
                <a16:creationId xmlns:a16="http://schemas.microsoft.com/office/drawing/2014/main" id="{7ABBD3E8-3D4B-8178-4308-166F5CD3FB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40"/>
    </mc:Choice>
    <mc:Fallback xmlns="">
      <p:transition spd="slow" advTm="287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attrition disrupts teams, increases recruitment costs and diminishes institutional knowledge.
</a:t>
            </a: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 can identify at–risk employees and enable HR interventions.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rcRect t="7143" b="7143"/>
          <a:stretch/>
        </p:blipFill>
        <p:spPr>
          <a:xfrm>
            <a:off x="5669280" y="1371600"/>
            <a:ext cx="32004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6"/>
              </a:rPr>
              <a:t>[1]</a:t>
            </a:r>
            <a:endParaRPr lang="en-US" sz="600" dirty="0"/>
          </a:p>
        </p:txBody>
      </p:sp>
      <p:pic>
        <p:nvPicPr>
          <p:cNvPr id="36" name="Audio 35">
            <a:extLst>
              <a:ext uri="{FF2B5EF4-FFF2-40B4-BE49-F238E27FC236}">
                <a16:creationId xmlns:a16="http://schemas.microsoft.com/office/drawing/2014/main" id="{C1FD0BD2-56B0-46E3-8316-FB2CAB4D20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40"/>
    </mc:Choice>
    <mc:Fallback xmlns="">
      <p:transition spd="slow" advTm="340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1,470 employees
</a:t>
            </a: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original features; about 50 numeric predictors after one‑hot encoding
Demographic, job role, satisfaction and compensation variables
Attrition rate ≈16%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584960"/>
            <a:ext cx="3200400" cy="2133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6"/>
              </a:rPr>
              <a:t>[1]</a:t>
            </a:r>
            <a:endParaRPr lang="en-US" sz="600" dirty="0"/>
          </a:p>
        </p:txBody>
      </p:sp>
      <p:pic>
        <p:nvPicPr>
          <p:cNvPr id="30" name="Audio 29">
            <a:extLst>
              <a:ext uri="{FF2B5EF4-FFF2-40B4-BE49-F238E27FC236}">
                <a16:creationId xmlns:a16="http://schemas.microsoft.com/office/drawing/2014/main" id="{0B13EB0E-840D-B469-9CD4-672CCDFE01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120"/>
    </mc:Choice>
    <mc:Fallback xmlns="">
      <p:transition spd="slow" advTm="581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who left tended to have lower monthly income.
</a:t>
            </a: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Boxplots reveal a right–skewed distribution for employees who stayed, indicating greater earning potential.
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584960"/>
            <a:ext cx="3200400" cy="2133600"/>
          </a:xfrm>
          <a:prstGeom prst="rect">
            <a:avLst/>
          </a:prstGeom>
        </p:spPr>
      </p:pic>
      <p:pic>
        <p:nvPicPr>
          <p:cNvPr id="25" name="Audio 24">
            <a:extLst>
              <a:ext uri="{FF2B5EF4-FFF2-40B4-BE49-F238E27FC236}">
                <a16:creationId xmlns:a16="http://schemas.microsoft.com/office/drawing/2014/main" id="{F1204071-574F-DC74-0978-A472360435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08"/>
    </mc:Choice>
    <mc:Fallback xmlns="">
      <p:transition spd="slow" advTm="290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&amp; Resampling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identifiers and constant columns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One‑hot encode categorical variables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80/20 train–test split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oversampling to balance the minority class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82880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Regression: linear classifier with sigmoid activation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Tree: interpretable rule‑based splits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ensemble of randomised trees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5"/>
              </a:rPr>
              <a:t>[2]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[3]</a:t>
            </a:r>
            <a:endParaRPr lang="en-US" sz="600" dirty="0"/>
          </a:p>
        </p:txBody>
      </p:sp>
      <p:pic>
        <p:nvPicPr>
          <p:cNvPr id="80" name="Audio 79">
            <a:extLst>
              <a:ext uri="{FF2B5EF4-FFF2-40B4-BE49-F238E27FC236}">
                <a16:creationId xmlns:a16="http://schemas.microsoft.com/office/drawing/2014/main" id="{C2F09EBB-8CE8-681F-854D-02A991292E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580"/>
    </mc:Choice>
    <mc:Fallback xmlns="">
      <p:transition spd="slow" advTm="615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 1"/>
          <p:cNvSpPr/>
          <p:nvPr/>
        </p:nvSpPr>
        <p:spPr>
          <a:xfrm>
            <a:off x="5760720" y="164592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achieves the best balance of precision and recall.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attains high accuracy but suffers from very low recall.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underperforms and exhibits poor sensitivity.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6"/>
              </a:rPr>
              <a:t>[2]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666666"/>
                </a:solidFill>
                <a:hlinkClick r:id="rId7"/>
              </a:rPr>
              <a:t>[3]</a:t>
            </a:r>
            <a:endParaRPr lang="en-US" sz="600" dirty="0"/>
          </a:p>
        </p:txBody>
      </p:sp>
      <p:pic>
        <p:nvPicPr>
          <p:cNvPr id="31" name="Audio 30">
            <a:extLst>
              <a:ext uri="{FF2B5EF4-FFF2-40B4-BE49-F238E27FC236}">
                <a16:creationId xmlns:a16="http://schemas.microsoft.com/office/drawing/2014/main" id="{90787990-1275-5A6A-6415-9132B185F1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75"/>
    </mc:Choice>
    <mc:Fallback xmlns="">
      <p:transition spd="slow" advTm="451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2860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7B1DF"/>
                </a:solidFill>
              </a:rPr>
              <a:t>Confusion matrix for logistic regression (test set)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2B3CF3-C8F8-2E7E-A0EE-D03BE0A06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869" y="1351537"/>
            <a:ext cx="2670261" cy="2241877"/>
          </a:xfrm>
          <a:prstGeom prst="rect">
            <a:avLst/>
          </a:prstGeom>
        </p:spPr>
      </p:pic>
      <p:pic>
        <p:nvPicPr>
          <p:cNvPr id="27" name="Audio 26">
            <a:extLst>
              <a:ext uri="{FF2B5EF4-FFF2-40B4-BE49-F238E27FC236}">
                <a16:creationId xmlns:a16="http://schemas.microsoft.com/office/drawing/2014/main" id="{C537E134-FC57-FF3A-673E-71B3A9C5DE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60"/>
    </mc:Choice>
    <mc:Fallback xmlns="">
      <p:transition spd="slow" advTm="355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Predictors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2179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and monthly income emerge as strong predictors of attrition.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tenure and higher pay reduce the likelihood of leaving.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overtime still raises attrition risk.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5"/>
              </a:rPr>
              <a:t>[3]</a:t>
            </a:r>
            <a:endParaRPr lang="en-US" sz="600" dirty="0"/>
          </a:p>
        </p:txBody>
      </p:sp>
      <p:pic>
        <p:nvPicPr>
          <p:cNvPr id="25" name="Audio 24">
            <a:extLst>
              <a:ext uri="{FF2B5EF4-FFF2-40B4-BE49-F238E27FC236}">
                <a16:creationId xmlns:a16="http://schemas.microsoft.com/office/drawing/2014/main" id="{B9FC076F-A675-63F7-9A42-6F15042B08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05A4F4-DB70-7951-8535-29DB38D1FE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73" y="1692173"/>
            <a:ext cx="5215593" cy="24226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100"/>
    </mc:Choice>
    <mc:Fallback xmlns="">
      <p:transition spd="slow" advTm="39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Considerations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fairness across demographic groups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privacy and secure data storage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openly about model use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6"/>
              </a:rPr>
              <a:t>[6]</a:t>
            </a:r>
            <a:endParaRPr lang="en-US" sz="600" dirty="0"/>
          </a:p>
        </p:txBody>
      </p:sp>
      <p:pic>
        <p:nvPicPr>
          <p:cNvPr id="25" name="Audio 24">
            <a:extLst>
              <a:ext uri="{FF2B5EF4-FFF2-40B4-BE49-F238E27FC236}">
                <a16:creationId xmlns:a16="http://schemas.microsoft.com/office/drawing/2014/main" id="{11AA3AF6-99A7-8E51-9975-7C9ABB81DC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81"/>
    </mc:Choice>
    <mc:Fallback xmlns="">
      <p:transition spd="slow" advTm="266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offers the best trade‑off between precision and recall.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and monthly income are among the strongest predictors, while overtime still elevates risk.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attains high overall accuracy but fails to identify many leavers; decision trees underperform.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test advanced resampling like SMOTE, incorporate behavioural metrics and run cross‑validation.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models to inform—not replace—HR judgement.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5"/>
              </a:rPr>
              <a:t>[4]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[6]</a:t>
            </a:r>
            <a:endParaRPr lang="en-US" sz="600" dirty="0"/>
          </a:p>
        </p:txBody>
      </p:sp>
      <p:pic>
        <p:nvPicPr>
          <p:cNvPr id="34" name="Audio 33">
            <a:extLst>
              <a:ext uri="{FF2B5EF4-FFF2-40B4-BE49-F238E27FC236}">
                <a16:creationId xmlns:a16="http://schemas.microsoft.com/office/drawing/2014/main" id="{9C709EC8-DFEB-F817-D661-0ECF946867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420"/>
    </mc:Choice>
    <mc:Fallback xmlns="">
      <p:transition spd="slow" advTm="464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686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</a:t>
            </a: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attrition reduces profit margins and predictive models can identify at‑risk staff. </a:t>
            </a:r>
            <a:r>
              <a:rPr sz="1200" u="sng" dirty="0">
                <a:solidFill>
                  <a:schemeClr val="accent6"/>
                </a:solidFill>
                <a:hlinkClick r:id="rId3"/>
              </a:rPr>
              <a:t>(inseaddataanalytics.github.io)</a:t>
            </a:r>
            <a:r>
              <a:rPr dirty="0"/>
              <a:t>
</a:t>
            </a: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</a:t>
            </a: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uses a sigmoid function to predict binary outcomes. </a:t>
            </a:r>
            <a:r>
              <a:rPr sz="1200" u="sng" dirty="0">
                <a:solidFill>
                  <a:schemeClr val="accent6"/>
                </a:solidFill>
                <a:hlinkClick r:id="rId4"/>
              </a:rPr>
              <a:t>(www.geeksforgeeks.org)</a:t>
            </a:r>
            <a:r>
              <a:rPr dirty="0"/>
              <a:t>
</a:t>
            </a: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</a:t>
            </a: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forests are ensembles of decision trees grown on random subsets. </a:t>
            </a:r>
            <a:r>
              <a:rPr sz="1200" u="sng" dirty="0">
                <a:solidFill>
                  <a:schemeClr val="accent6"/>
                </a:solidFill>
                <a:hlinkClick r:id="rId5"/>
              </a:rPr>
              <a:t>(www.geeksforgeeks.org)</a:t>
            </a:r>
            <a:r>
              <a:rPr dirty="0"/>
              <a:t>
</a:t>
            </a: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</a:t>
            </a: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creates synthetic minority samples by interpolating between neighbours. </a:t>
            </a:r>
            <a:r>
              <a:rPr sz="1200" u="sng" dirty="0">
                <a:solidFill>
                  <a:schemeClr val="accent6"/>
                </a:solidFill>
                <a:hlinkClick r:id="rId6"/>
              </a:rPr>
              <a:t>(pmc.ncbi.nlm.nih.gov)</a:t>
            </a:r>
            <a:r>
              <a:rPr dirty="0"/>
              <a:t> 
</a:t>
            </a: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</a:t>
            </a: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HR analytics should avoid bias, protect privacy and be transparent. </a:t>
            </a:r>
            <a:r>
              <a:rPr sz="1200" u="sng" dirty="0">
                <a:solidFill>
                  <a:schemeClr val="accent6"/>
                </a:solidFill>
                <a:hlinkClick r:id="rId7"/>
              </a:rPr>
              <a:t>(www.hrcloud.com)</a:t>
            </a:r>
            <a:r>
              <a:rPr dirty="0"/>
              <a:t>
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4730</TotalTime>
  <Words>517</Words>
  <Application>Microsoft Macintosh PowerPoint</Application>
  <PresentationFormat>On-screen Show (16:9)</PresentationFormat>
  <Paragraphs>70</Paragraphs>
  <Slides>12</Slides>
  <Notes>12</Notes>
  <HiddenSlides>0</HiddenSlides>
  <MMClips>11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Bryan Emer</cp:lastModifiedBy>
  <cp:revision>5</cp:revision>
  <dcterms:created xsi:type="dcterms:W3CDTF">2025-08-07T21:16:23Z</dcterms:created>
  <dcterms:modified xsi:type="dcterms:W3CDTF">2025-08-11T04:14:27Z</dcterms:modified>
</cp:coreProperties>
</file>